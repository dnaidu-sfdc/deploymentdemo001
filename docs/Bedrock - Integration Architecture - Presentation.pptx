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Bedrock Financial Services</a:t>
            </a:r>
          </a:p>
          <a:p>
            <a:pPr algn="l">
              <a:spcAft>
                <a:spcPts val="300"/>
              </a:spcAft>
            </a:pPr>
            <a:r>
              <a:rPr sz="3200" b="1">
                <a:solidFill>
                  <a:srgbClr val="7FB8EE"/>
                </a:solidFill>
                <a:latin typeface="Segoe UI"/>
              </a:rPr>
              <a:t>Integration Architecture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F3F4F6"/>
                </a:solidFill>
                <a:latin typeface="Segoe UI"/>
              </a:rPr>
              <a:t>Master-data integration across CRM, customer &amp; position masters,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F3F4F6"/>
                </a:solidFill>
                <a:latin typeface="Segoe UI"/>
              </a:rPr>
              <a:t>core banking, credit agencies and the enterprise data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FD6F2"/>
                </a:solidFill>
                <a:latin typeface="Segoe UI"/>
              </a:rPr>
              <a:t>First Name Last Name  ·  Integration Architect  ·  email@salesforce.com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Introduction (elevator pitch)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Problem statement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Proposed solution — architecture &amp; assumptions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Interface list (patterns, APIs, security, error handling)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Integration security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Summary &amp; trade-offs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Who Am 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Integration / Salesforce architect.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Experience designing API-led, event-driven integrations for regulated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financial-services platforms at scale.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23232"/>
                </a:solidFill>
                <a:latin typeface="Segoe UI"/>
              </a:rPr>
              <a:t>• Focus: choosing the right integration pattern, API, and security model per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High-Level Problem Statement</a:t>
            </a:r>
          </a:p>
          <a:p>
            <a:r>
              <a:rPr sz="1300">
                <a:solidFill>
                  <a:srgbClr val="BFD6F2"/>
                </a:solidFill>
                <a:latin typeface="Segoe UI"/>
              </a:rPr>
              <a:t>Master-data fragmentation across many heterogeneous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583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323232"/>
                </a:solidFill>
                <a:latin typeface="Segoe UI"/>
              </a:rPr>
              <a:t>• Master-data problem across customers and securities/products.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Customer Master = Hadoop (EA-owned, partly outsourced; real-time + batch).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Position Master = separate system; business wants real-time access in Salesforce.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Salesforce = master for Chatter, Opportunities, Leads, Cases.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323232"/>
                </a:solidFill>
                <a:latin typeface="Segoe UI"/>
              </a:rPr>
              <a:t>• The challenge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Connect Marketing Cloud, Drupal portal/mobile, credit agencies, core banking,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the masters, legacy RockStar and a data lake — each with different latency,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volume and security profiles — using the correct integration pattern per case.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23232"/>
                </a:solidFill>
                <a:latin typeface="Segoe UI"/>
              </a:rPr>
              <a:t>• Securely (mutual auth), centrally monitored, and as reusable assets.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280160"/>
            <a:ext cx="4206240" cy="502920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Volumes /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874519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5M retail customers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~2 accounts each (checking/savings + credit card)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~10 transactions / account / day  (~100M/day)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Multi-petabyte historical data warehouse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&gt;100,000 transaction-history calls/hour at peak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Millions of loan-processing events / day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23232"/>
                </a:solidFill>
                <a:latin typeface="Segoe UI"/>
              </a:rPr>
              <a:t>• 150 marketing/sales reps + 500 service reps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Solution Architecture — API-led, Event-driven on MuleSoft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160520" y="3076956"/>
            <a:ext cx="6057900" cy="374904"/>
          </a:xfrm>
          <a:prstGeom prst="line">
            <a:avLst/>
          </a:prstGeom>
          <a:ln w="15875">
            <a:solidFill>
              <a:srgbClr val="C96A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95160" y="3451860"/>
            <a:ext cx="3223260" cy="1463040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5160" y="3451860"/>
            <a:ext cx="3223260" cy="850391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5160" y="3451860"/>
            <a:ext cx="3223260" cy="237744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95160" y="3076956"/>
            <a:ext cx="3223260" cy="374904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95160" y="2464308"/>
            <a:ext cx="3223260" cy="987552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95160" y="1851660"/>
            <a:ext cx="3223260" cy="1600200"/>
          </a:xfrm>
          <a:prstGeom prst="line">
            <a:avLst/>
          </a:prstGeom>
          <a:ln w="19050">
            <a:solidFill>
              <a:srgbClr val="006D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60520" y="3451860"/>
            <a:ext cx="2834640" cy="0"/>
          </a:xfrm>
          <a:prstGeom prst="line">
            <a:avLst/>
          </a:prstGeom>
          <a:ln w="31750">
            <a:solidFill>
              <a:srgbClr val="0176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71600" y="3451860"/>
            <a:ext cx="2788920" cy="1440180"/>
          </a:xfrm>
          <a:prstGeom prst="line">
            <a:avLst/>
          </a:prstGeom>
          <a:ln w="19050">
            <a:solidFill>
              <a:srgbClr val="2E84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71600" y="3451860"/>
            <a:ext cx="2788920" cy="457200"/>
          </a:xfrm>
          <a:prstGeom prst="line">
            <a:avLst/>
          </a:prstGeom>
          <a:ln w="19050">
            <a:solidFill>
              <a:srgbClr val="2E8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71600" y="2926080"/>
            <a:ext cx="2788920" cy="525780"/>
          </a:xfrm>
          <a:prstGeom prst="line">
            <a:avLst/>
          </a:prstGeom>
          <a:ln w="19050">
            <a:solidFill>
              <a:srgbClr val="2E8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71600" y="1943100"/>
            <a:ext cx="2788920" cy="1508760"/>
          </a:xfrm>
          <a:prstGeom prst="line">
            <a:avLst/>
          </a:prstGeom>
          <a:ln w="19050">
            <a:solidFill>
              <a:srgbClr val="2E8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228600" y="1051560"/>
            <a:ext cx="2286000" cy="365760"/>
          </a:xfrm>
          <a:prstGeom prst="roundRect">
            <a:avLst/>
          </a:prstGeom>
          <a:solidFill>
            <a:srgbClr val="2E844A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051560"/>
            <a:ext cx="2743200" cy="365760"/>
          </a:xfrm>
          <a:prstGeom prst="round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SALESFORCE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051560"/>
            <a:ext cx="2377440" cy="365760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INTEGRATION BACKBONE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051560"/>
            <a:ext cx="3520440" cy="36576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SYSTEMS OF RECORD / EXTERNAL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600200"/>
            <a:ext cx="2286000" cy="685800"/>
          </a:xfrm>
          <a:prstGeom prst="roundRect">
            <a:avLst/>
          </a:prstGeom>
          <a:solidFill>
            <a:srgbClr val="2E844A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Marketing Cloud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(campaigns)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514600"/>
            <a:ext cx="2286000" cy="822960"/>
          </a:xfrm>
          <a:prstGeom prst="roundRect">
            <a:avLst/>
          </a:prstGeom>
          <a:solidFill>
            <a:srgbClr val="2E844A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Drupal Portal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(self-service + forms)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3566160"/>
            <a:ext cx="2286000" cy="685800"/>
          </a:xfrm>
          <a:prstGeom prst="roundRect">
            <a:avLst/>
          </a:prstGeom>
          <a:solidFill>
            <a:srgbClr val="2E844A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Hybrid Mobile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4480560"/>
            <a:ext cx="2286000" cy="822960"/>
          </a:xfrm>
          <a:prstGeom prst="roundRect">
            <a:avLst/>
          </a:prstGeom>
          <a:solidFill>
            <a:srgbClr val="2E844A"/>
          </a:solidFill>
          <a:ln w="12700">
            <a:solidFill>
              <a:srgbClr val="2E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External Trading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System (UI mashup)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743200" cy="3703320"/>
          </a:xfrm>
          <a:prstGeom prst="round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Salesforce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48840"/>
            <a:ext cx="2606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Sales &amp; Service Cloud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Headless Experience Cloud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Platform Events / CDC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Salesforce Connect (OData)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Apex / Flow / LWC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Composite &amp; Pub-Sub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600200"/>
            <a:ext cx="2377440" cy="3703320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MuleSoft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Anypoint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33172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System / Process /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Experience APIs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mTLS + OAuth/OIDC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Central monitoring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Reusable templates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Error queue (DLQ)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600200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Customer Master — Hadoop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212848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Position Master (real-time)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825496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Core Banking — OData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438144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Credit Agencies ×3+ (REST/OIDC)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050791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Legacy RockStar (migrate + sync)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663440"/>
            <a:ext cx="3520440" cy="502920"/>
          </a:xfrm>
          <a:prstGeom prst="roundRect">
            <a:avLst/>
          </a:prstGeom>
          <a:solidFill>
            <a:srgbClr val="444A59"/>
          </a:solidFill>
          <a:ln w="12700">
            <a:solidFill>
              <a:srgbClr val="444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Enterprise Data Lake (CDC)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44068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23232"/>
                </a:solidFill>
                <a:latin typeface="Segoe UI"/>
              </a:rPr>
              <a:t>Solid = via MuleSoft (monitored, mTLS, reusable)   ·   Orange dashed = Salesforce Connect data virtualization   ·   Blue = event/API bridge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5806440"/>
            <a:ext cx="1828800" cy="365760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Key 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77900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323232"/>
                </a:solidFill>
                <a:latin typeface="Segoe UI"/>
              </a:rPr>
              <a:t>• MuleSoft Anypoint licensed; certs/identities by EA  ·  Customer Master = real-time+batch; Position Master callable  ·  Core banking exposes OData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23232"/>
                </a:solidFill>
                <a:latin typeface="Segoe UI"/>
              </a:rPr>
              <a:t>• Agencies = REST + OpenID Connect  ·  Data lake can subscribe to a stream; PII list agreed  ·  No Communities UI (headless Experience Cloud only)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Interface List</a:t>
            </a:r>
          </a:p>
          <a:p>
            <a:r>
              <a:rPr sz="1300">
                <a:solidFill>
                  <a:srgbClr val="BFD6F2"/>
                </a:solidFill>
                <a:latin typeface="Segoe UI"/>
              </a:rPr>
              <a:t>Pattern · Salesforce API · Security · Error handling per interface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" y="1078992"/>
          <a:ext cx="11887197" cy="554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1"/>
                <a:gridCol w="1832609"/>
                <a:gridCol w="2030729"/>
                <a:gridCol w="1684020"/>
                <a:gridCol w="2327910"/>
                <a:gridCol w="1535430"/>
                <a:gridCol w="176326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Source → Target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Pattern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SF API / Mechanism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Security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Error handling</a:t>
                      </a:r>
                    </a:p>
                  </a:txBody>
                  <a:tcPr marL="36576" marR="36576" marT="9144" marB="9144" anchor="ctr">
                    <a:solidFill>
                      <a:srgbClr val="032D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INT-01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Marketing Cloud → SF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Leads near-real-time to swarm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 + UI Update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Platform Event / Pub-Sub; empApi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OAuth + 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Replay by replayId; DLQ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INT-02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Drupal → SF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Capture prospect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 (Req-Reply)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REST API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OAuth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Sync error; retry 5xx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INT-03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Rules engine → SF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Daily call-list load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Batch Data Sync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Bulk API 2.0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Named Cred + 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Failed-row reprocess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INT-04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UI → map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Call list on a map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UI integration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lightning-map / Maps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Key in Named Cred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'Address not found'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INT-05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Manager UI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High-value call closed (live)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UI Update on Data Change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Platform Event + empApi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Sharing/FLS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Resubscribe + replay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INT-06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Credit agencies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Credit checks ×3+, ≤1 min, partial retry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RPC Request &amp; Reply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Apex Continuation / Flow HTTP Callout → Mule fan-out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OpenID Connect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'Agency XYZ down'; resubmit retries only failed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INT-07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Hadoop + Position Master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Registered customer near-real-time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RPC Fire &amp; Forget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Platform Event → Mule fan-out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Retry + DLQ → admin queue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INT-08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Master → Experience Cloud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Create/activate user + invite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REST + createExternalUser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OAuth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Retry queue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INT-09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Drupal ↔ Experience Cloud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Real-time self-service as end-user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 (Req-Reply)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Connect REST / headless APIs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End-user OAuth — no API user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401 → re-auth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INT-10/12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Drupal → SF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Contact info / raise inquiry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REST API (end-user)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End-user OAuth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Validation error to UI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INT-11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Core banking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Transaction history &gt;100k/hr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Data Virtualization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Salesforce Connect (OData) + Mule cache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Named Cred + 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Circuit breaker; cached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INT-13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Customer Master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Propagate updates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RPC Fire &amp; Forget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Platform Event / CDC → Mule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Retry + DLQ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INT-14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Mobile → SF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Same functions as portal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REST / GraphQL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End-user OAuth (PKCE) + 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Offline retry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INT-15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Drupal/Mule → SF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Loan app all-or-nothing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Remote Call-In (transactional)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Composite API (allOrNone)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OAuth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Whole-graph rollback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INT-16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↔ Trading system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No swivel + auto-log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UI mashup + RPC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Canvas/iframe + SSO; log callout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SSO + 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Log retry queue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INT-17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ESB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Millions of loan events/day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RPC Fire &amp; Forget (scale)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High-Volume PE / Pub-Sub API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OAuth + mTLS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Replay + DLQ; monitor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INT-18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RockStar ↔ SF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Migration + 3-mo sync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Batch + near-real-time sync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Bulk API 2.0 + CDC ↔ Mule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mTLS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Bulk error rows; conflict rules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32D60"/>
                          </a:solidFill>
                          <a:latin typeface="Segoe UI"/>
                        </a:rPr>
                        <a:t>INT-19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SF → Data Lake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Non-PII; ins/upd/del; history, changed-fields-only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RPC Fire &amp; Forget (event-driven)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Change Data Capture → Mule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mTLS + PII filter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23232"/>
                          </a:solidFill>
                          <a:latin typeface="Segoe UI"/>
                        </a:rPr>
                        <a:t>Replay; gap detect; DLQ</a:t>
                      </a:r>
                    </a:p>
                  </a:txBody>
                  <a:tcPr marL="36576" marR="36576" marT="4572" marB="457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Integration Security</a:t>
            </a:r>
          </a:p>
          <a:p>
            <a:r>
              <a:rPr sz="1300">
                <a:solidFill>
                  <a:srgbClr val="BFD6F2"/>
                </a:solidFill>
                <a:latin typeface="Segoe UI"/>
              </a:rPr>
              <a:t>Mutual auth on every interface · end-user (not API user) for self-service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252728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Mutual TLS (two-way SSL) on ALL interfaces — client + server certs; enforced centrally at MuleSoft API Manager and via Named Credentials.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84832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Outbound (SF → external)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03120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Named + External Credentials; OpenID Connect / OAuth 2.0 to credit agencies; per-system credentials at Mule — no secrets in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35224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Inbound (external → SF)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53512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OAuth 2.0 — client-credentials for server-to-server (Drupal form); Authorization Code / PKCE for end-user &amp; mobile.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85616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End-user, not API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803904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Drupal &amp; mobile call Experience Cloud with the END-USER's token — honoring per-user sharing &amp; FLS. Meets the BFS security mandate (INT-09).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36008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Data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65429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Shield Platform Encryption for PII at rest; PII EXCLUDED from the data-lake CDC stream; field filtering in Mule.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2743200" cy="713232"/>
          </a:xfrm>
          <a:prstGeom prst="roundRect">
            <a:avLst/>
          </a:prstGeom>
          <a:solidFill>
            <a:srgbClr val="006D9C"/>
          </a:solidFill>
          <a:ln w="12700">
            <a:solidFill>
              <a:srgbClr val="006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Governance &amp;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504688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Least-privilege connected apps / permission sets; central policy, threat protection &amp; audit at API Manager + Salesforce Event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Summary &amp;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86400" cy="411480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Why MuleSoft — license justified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323232"/>
                </a:solidFill>
                <a:latin typeface="Segoe UI"/>
              </a:rPr>
              <a:t>• Delivers the brief's explicit asks: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Central monitoring (Anypoint Monitoring/Visualizer)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Reusable connection templates (Exchange + API-led)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Admin error queue (DLQ / reprocessing)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Uniform mutual TLS + security policy (API Manager)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23232"/>
                </a:solidFill>
                <a:latin typeface="Segoe UI"/>
              </a:rPr>
              <a:t>• Pays for itself: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Reuse → faster go-to-market; new agency/system = config, not code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Lower TCO; fewer governor-limit issues; audit-ready (regulated FS)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Salesforce-native product (Anypoint + Composer for clicks-not-code)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486400" cy="411480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trade-offs articulated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459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Virtualize vs replicate history → Salesforce Connect + cache hot path (don't store 100M+/day)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Sync vs async credit checks → Apex Continuation to scale 30 concurrent × 1 min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Platform Events vs CDC → CDC for INT-19 (native history + changed-fields + deletes)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Native vs middleware → Mule where monitoring/reuse/error-queue pays; native for pure UI &amp; atomic writes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526280"/>
            <a:ext cx="5486400" cy="411480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Quantified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0292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Scales: 5M customers / ~100M txns/day / &gt;100k history calls/hr / millions of loan events/day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323232"/>
                </a:solidFill>
                <a:latin typeface="Segoe UI"/>
              </a:rPr>
              <a:t>• Resilient (replay + DLQ) · Secure (mTLS + end-user auth) · Reusable (API-led assets)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ctr">
              <a:spcAft>
                <a:spcPts val="300"/>
              </a:spcAft>
            </a:pPr>
            <a:r>
              <a:rPr sz="2000" b="0">
                <a:solidFill>
                  <a:srgbClr val="7FB8EE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